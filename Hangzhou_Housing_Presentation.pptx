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274320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5120640"/>
            <a:ext cx="94183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6400800" cy="6400800"/>
          </a:xfrm>
          <a:prstGeom prst="ellipse">
            <a:avLst/>
          </a:prstGeom>
          <a:solidFill>
            <a:srgbClr val="409E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Segoe UI"/>
              </a:defRPr>
            </a:pPr>
            <a:r>
              <a:t>HANGZHOU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Housing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Segoe UI"/>
              </a:defRPr>
            </a:pPr>
            <a:r>
              <a:t>End-to-End Data Analytics  |  Machine Learning  |  Interactive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749039"/>
            <a:ext cx="201168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08760" y="3749039"/>
            <a:ext cx="173736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931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3,455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434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Active Listings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749039"/>
            <a:ext cx="201168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94760" y="3749039"/>
            <a:ext cx="17373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931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434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Districts 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749039"/>
            <a:ext cx="201168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749039"/>
            <a:ext cx="173736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931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R^2 0.72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434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Model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49039"/>
            <a:ext cx="201168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3749039"/>
            <a:ext cx="173736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931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5F7"/>
                </a:solidFill>
                <a:latin typeface="Segoe UI"/>
              </a:defRPr>
            </a:pPr>
            <a:r>
              <a:t>98.7%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434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Data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Shawon  |  June 2026  |  World-Class Data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 / 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09EFF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72184"/>
            <a:ext cx="27432" cy="3200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099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Why Hangzhou housing data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093976"/>
            <a:ext cx="27432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31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System design &amp; 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6090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715768"/>
            <a:ext cx="27432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660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9535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From scraping to clean analytics-ready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826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337560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282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Analysis &amp; ML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575303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6 statistical methods, clustering,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044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5F7"/>
                </a:solidFill>
                <a:latin typeface="Segoe UI Light"/>
              </a:defRPr>
            </a:pPr>
            <a: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959352"/>
            <a:ext cx="27432" cy="320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3904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Key Market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1970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Price factors, segments, and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09EFF"/>
                </a:solidFill>
                <a:latin typeface="Segoe UI Light"/>
              </a:defRPr>
            </a:pPr>
            <a:r>
              <a:t>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4581144"/>
            <a:ext cx="27432" cy="3200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Live Platform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8188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13-page web application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480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 Light"/>
              </a:defRPr>
            </a:pPr>
            <a: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5202936"/>
            <a:ext cx="27432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5148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Quality &amp;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440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98 test cases, 100% pass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6986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 Light"/>
              </a:defRPr>
            </a:pPr>
            <a: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5824728"/>
            <a:ext cx="27432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5769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Impact &amp;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60624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Business value and future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CHALLENGE - 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Segoe UI"/>
              </a:defRPr>
            </a:pPr>
            <a:r>
              <a:t>THE MARKET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AED"/>
                </a:solidFill>
                <a:latin typeface="Segoe UI"/>
              </a:defRPr>
            </a:pPr>
            <a:r>
              <a:t>Hangzhou's second-hand housing market is one of China's most dynamic - with 3,000+ active listings across 12 districts at any moment. Prices range from 18,000 to 150,000 RMB per square meter.</a:t>
            </a:r>
            <a:br/>
            <a:br/>
            <a:r>
              <a:t>Home buyers face an overwhelming amount of fragmented data with no way to systematically compare, analyze, and make confident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29200" cy="84124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270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Data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Listings scattered across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5029200" cy="84124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871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Price Opacity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No clear price drivers or benchmarks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37560"/>
            <a:ext cx="5029200" cy="84124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4472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Geographic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12 districts, vast price variance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97680"/>
            <a:ext cx="5029200" cy="84124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074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 Comparative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Cannot compare across districts &amp;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257800"/>
            <a:ext cx="5029200" cy="84124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3675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Decision Paralysis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Too many options, no structured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OUR SOLUTION -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89611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Full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Scrape, Clean, Analyze, Visualize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727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Automated end-to-end processing of 3,500+ real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10698480" cy="89611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6 ML Analysis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Regression, PCA, Clustering, LDA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9689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Statistical rigor with scikit-learn &amp; statsmodels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19856"/>
            <a:ext cx="10698480" cy="89611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112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10 Interactive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770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Bar, Scatter, Heatmap, Multi-series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62102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Server-side pyecharts + client-side ECharts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43984"/>
            <a:ext cx="10698480" cy="89611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354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13-Page Web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011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Vue 3 SPA, FastAPI, Dark/Light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451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Responsive design, English/Chinese, Mobile-ready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68112"/>
            <a:ext cx="10698480" cy="89611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59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Actionable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925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Cluster profiles, Price predictions, Buying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669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From raw data to purchase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 - Four-Tier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3272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54864" cy="8686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WEB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4708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Vue 3, Element Plus, ECharts, Pinia, i18n, Responsive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68880"/>
            <a:ext cx="1033272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REST 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44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FastAPI, 14 Endpoints, JSON, CORS, Static Serving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66160"/>
            <a:ext cx="1033272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566160"/>
            <a:ext cx="54864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DATA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416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Scraper, 8-Step Cleaner, 5 Analyzers, 10 Chart Generators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63440"/>
            <a:ext cx="1033272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663440"/>
            <a:ext cx="54864" cy="868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DATA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3892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SQLite, SQLAlchemy ORM, CSV/JSON Files, Analysis Results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06440"/>
            <a:ext cx="237744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806440"/>
            <a:ext cx="210312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989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09E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6492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5806440"/>
            <a:ext cx="237744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5806440"/>
            <a:ext cx="21031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5989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6492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Web Pages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5806440"/>
            <a:ext cx="237744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806440"/>
            <a:ext cx="210312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989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6492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Chart Types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5806440"/>
            <a:ext cx="237744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23960" y="5806440"/>
            <a:ext cx="210312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5989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5F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6492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ML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STACK - Modern &amp;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20440" cy="21945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52044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FastAPI 0.109+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134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uvicorn ASGI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Pydantic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Starlette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371600"/>
            <a:ext cx="3520440" cy="21945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71600"/>
            <a:ext cx="352044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536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Frontend SPA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965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Vue 3 Composition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3134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Pinia State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660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Vue Router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0083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Element Plus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520440" cy="21945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5204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536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Data Science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65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scikit-learn 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3134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statsmodels 0.14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660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pandas + numpy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0083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factor-analyzer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40480"/>
            <a:ext cx="3520440" cy="21945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840480"/>
            <a:ext cx="35204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434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ECharts 5 (client)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82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pyecharts 2 (server)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297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10+ chart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772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HTML5 Canvas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3840480"/>
            <a:ext cx="3520440" cy="21945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3840480"/>
            <a:ext cx="35204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Data Collection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434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requests + BS4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782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lxml parser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1297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Sample 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54772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Anti-scraping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840480"/>
            <a:ext cx="3520440" cy="219456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40480"/>
            <a:ext cx="35204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434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Vite Build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782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SQLite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1297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SQLAlchemy 2.0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4772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  Playwright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DATA PIPELINE - End-to-End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103120" cy="33832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737360"/>
            <a:ext cx="640080" cy="64008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SCRAPE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Lianjia.com</a:t>
            </a:r>
            <a:br/>
            <a:r>
              <a:t>120 pages</a:t>
            </a:r>
            <a:br/>
            <a:r>
              <a:t>3,500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554480"/>
            <a:ext cx="2103120" cy="33832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39" y="173736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108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8-step pipeline</a:t>
            </a:r>
            <a:br/>
            <a:r>
              <a:t>Z-score outliers</a:t>
            </a:r>
            <a:br/>
            <a:r>
              <a:t>98.7% retention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554480"/>
            <a:ext cx="2103120" cy="33832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59" y="173736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108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6 ML methods</a:t>
            </a:r>
            <a:br/>
            <a:r>
              <a:t>Regression, PCA</a:t>
            </a:r>
            <a:br/>
            <a:r>
              <a:t>Clustering, LDA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554480"/>
            <a:ext cx="2103120" cy="33832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79" y="1737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108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10 visualizations</a:t>
            </a:r>
            <a:br/>
            <a:r>
              <a:t>Interactive HTML</a:t>
            </a:r>
            <a:br/>
            <a:r>
              <a:t>Chart 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554480"/>
            <a:ext cx="2103120" cy="33832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5600" y="1737360"/>
            <a:ext cx="640080" cy="6400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108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FastAPI backend</a:t>
            </a:r>
            <a:br/>
            <a:r>
              <a:t>14 REST endpoints</a:t>
            </a:r>
            <a:br/>
            <a:r>
              <a:t>Live web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AED"/>
                </a:solidFill>
                <a:latin typeface="Segoe UI"/>
              </a:defRPr>
            </a:pPr>
            <a:r>
              <a:t>KEY INSIGHT: The 8-step cleaning pipeline transforms raw web-scraped data into analysis-ready datasets, removing duplicates, imputing missing values, eliminating Z-score outliers (&gt;3 sigma), standardizing 10+ text fields, encoding categoricals, and creating 6 derived feature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DATA CLEANING - 8-Step Quality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9E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435607"/>
            <a:ext cx="27432" cy="2560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Remove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258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By listing_link + (community, area, price)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93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039112"/>
            <a:ext cx="2743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93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Handle 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938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Median (numeric), Mode (categorical), Derived formulas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32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642616"/>
            <a:ext cx="274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532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Remove Outliers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3288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Z-score &gt; 3 sigma, Domain validation (area, price, 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36391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246120"/>
            <a:ext cx="274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1363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Convert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13639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Numeric coercion, Rounding, Binary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398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849624"/>
            <a:ext cx="274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3739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Standardize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3989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10 orientations, 5 decoration levels, 3 floor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9EFF"/>
                </a:solidFill>
                <a:latin typeface="Segoe UI"/>
              </a:defRPr>
            </a:pPr>
            <a:r>
              <a:t>Step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453128"/>
            <a:ext cx="27432" cy="2560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Encode Categorical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3434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Ordinal (0-4 decor), Binary (south), One-hot (district)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469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Step 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056632"/>
            <a:ext cx="2743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4946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Derived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94690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Floor ratio, Price/area per room, Category buckets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50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Step 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5660136"/>
            <a:ext cx="274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5550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Final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55040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Remove NaN, Drop negatives, Verify district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23560"/>
            <a:ext cx="246888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8680" y="5623560"/>
            <a:ext cx="21945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806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3,500 to 3,455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6309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Records Retained (98.7%)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5623560"/>
            <a:ext cx="246888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11879" y="5623560"/>
            <a:ext cx="219456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5806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09EFF"/>
                </a:solidFill>
                <a:latin typeface="Segoe UI"/>
              </a:defRPr>
            </a:pPr>
            <a:r>
              <a:t>22 to 30+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6309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Features Expanded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623560"/>
            <a:ext cx="246888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5623560"/>
            <a:ext cx="219456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5806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0 Missing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6309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Critical Fields Complete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20" y="5623560"/>
            <a:ext cx="2468880" cy="7315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8280" y="5623560"/>
            <a:ext cx="219456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20" y="5806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5F7"/>
                </a:solidFill>
                <a:latin typeface="Segoe UI"/>
              </a:defRPr>
            </a:pPr>
            <a:r>
              <a:t>Z &gt; 3 sigma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6309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Outlier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ANALYSIS METHODS - 6 Statistical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20440" cy="21945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52044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Segoe UI"/>
              </a:defRPr>
            </a:pPr>
            <a:r>
              <a:t>Descriptive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Mean, median, std, quartiles</a:t>
            </a:r>
            <a:br/>
            <a:r>
              <a:t>Skewness, kurtosis</a:t>
            </a:r>
            <a:br/>
            <a:r>
              <a:t>Grouped by 7 dimensions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520440" cy="21945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352044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Correlation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57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Pearson correlation matrix</a:t>
            </a:r>
            <a:br/>
            <a:r>
              <a:t>12x12 feature heatmap</a:t>
            </a:r>
            <a:br/>
            <a:r>
              <a:t>Sorted price correlations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20440" cy="21945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204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Regression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057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OLS (statsmodels) with p-values</a:t>
            </a:r>
            <a:br/>
            <a:r>
              <a:t>Linear + Ridge (sklearn)</a:t>
            </a:r>
            <a:br/>
            <a:r>
              <a:t>5-fold cross-validation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40480"/>
            <a:ext cx="3520440" cy="21945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35204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PCA &amp; Factor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Principal Component Analysis</a:t>
            </a:r>
            <a:br/>
            <a:r>
              <a:t>Bartlett + KMO tests</a:t>
            </a:r>
            <a:br/>
            <a:r>
              <a:t>Varimax rotation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40480"/>
            <a:ext cx="3520440" cy="21945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40480"/>
            <a:ext cx="35204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K-Means Clustering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5262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Elbow method K=1..10</a:t>
            </a:r>
            <a:br/>
            <a:r>
              <a:t>5 market segments</a:t>
            </a:r>
            <a:br/>
            <a:r>
              <a:t>Human-readable cluster labels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40480"/>
            <a:ext cx="3520440" cy="21945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840480"/>
            <a:ext cx="35204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Discriminant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262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LDA with 70/30 stratified split</a:t>
            </a:r>
            <a:br/>
            <a:r>
              <a:t>QDA with regularization</a:t>
            </a:r>
            <a:br/>
            <a:r>
              <a:t>Feature importance ranking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REGRESSION ANALYSIS - What Drives Price?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20240"/>
            <a:ext cx="201168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0.72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OLS R-squared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92024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920240"/>
            <a:ext cx="201168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103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09EFF"/>
                </a:solidFill>
                <a:latin typeface="Segoe UI"/>
              </a:defRPr>
            </a:pPr>
            <a:r>
              <a:t>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CV R-squared Mean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971800"/>
            <a:ext cx="2011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&lt; 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F-test p-value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97180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971800"/>
            <a:ext cx="201168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154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5F7"/>
                </a:solidFill>
                <a:latin typeface="Segoe UI"/>
              </a:defRPr>
            </a:pPr>
            <a:r>
              <a:t>3,455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TOP PRICE DRIVERS (Coefficient)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93852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Floor 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3852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+45.2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3852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Biggest driver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441448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5054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Xihu District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5054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+38.5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5054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Premium location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008376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0723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Decoration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0723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+12.3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0723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Per level upgrade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575303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63931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Building 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63931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-8.7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63931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Per year older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142231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5. Near Subway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206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+15.6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2062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Metro premium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709160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7731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6. South-facing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7731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+5.2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7731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Orientation value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276088"/>
            <a:ext cx="5029200" cy="48463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3400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7. Higher Floor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53400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+3.1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53400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Slight preference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AED"/>
                </a:solidFill>
                <a:latin typeface="Segoe UI"/>
              </a:defRPr>
            </a:pPr>
            <a:r>
              <a:t>INTERPRETATION: Floor area is overwhelmingly the strongest predictor - each additional square meter adds approximately 4,500 RMB to the total price. Location (district) is second, with Xihu commanding a 385,000 RMB premium. Building age exerts consistent negative pressure (~8,700 RMB/year). Together, these factors explain 72% of price variance.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MARKET SEGMENTS - 5 Distinct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176272" cy="37947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1762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Premium</a:t>
            </a:r>
            <a:br/>
            <a:r>
              <a:t>Large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901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High price, Large area</a:t>
            </a:r>
            <a:br/>
            <a:r>
              <a:t>Newer, Fine decoration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1353312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417320"/>
            <a:ext cx="2176272" cy="37947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417320"/>
            <a:ext cx="2176272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33172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Standard</a:t>
            </a:r>
            <a:br/>
            <a:r>
              <a:t>Residential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46120"/>
            <a:ext cx="1901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Mid price, Balanced</a:t>
            </a:r>
            <a:br/>
            <a:r>
              <a:t>Average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480560"/>
            <a:ext cx="1353312" cy="45720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45262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417320"/>
            <a:ext cx="2176272" cy="37947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417320"/>
            <a:ext cx="2176272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33172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Compact</a:t>
            </a:r>
            <a:br/>
            <a:r>
              <a:t>Entry-Level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246120"/>
            <a:ext cx="1901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Low price, Small area</a:t>
            </a:r>
            <a:br/>
            <a:r>
              <a:t>Older, Simple decor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4480560"/>
            <a:ext cx="1353312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5262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417320"/>
            <a:ext cx="2176272" cy="37947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417320"/>
            <a:ext cx="21762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33172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Budget</a:t>
            </a:r>
            <a:br/>
            <a:r>
              <a:t>Friendly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246120"/>
            <a:ext cx="1901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Lowest price, Variable</a:t>
            </a:r>
            <a:br/>
            <a:r>
              <a:t>Older buildings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19" y="4480560"/>
            <a:ext cx="1353312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19" y="45262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59" y="1417320"/>
            <a:ext cx="2176272" cy="37947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59" y="1417320"/>
            <a:ext cx="2176272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19" y="233172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Modern</a:t>
            </a:r>
            <a:br/>
            <a:r>
              <a:t>Family Home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246120"/>
            <a:ext cx="1901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Mid-high, Large area</a:t>
            </a:r>
            <a:br/>
            <a:r>
              <a:t>Newer, Near subway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39" y="4480560"/>
            <a:ext cx="1353312" cy="457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39" y="45262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K-Means with Elbow Method optimization (optimal K=5). Features: price, area, rooms, age, decoration, floor type, orientation, subway proximity + district dummies. StandardScaler normalization applied.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MARKET FINDINGS - Data-Driven Truths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74980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45720" cy="749808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Segoe UI"/>
              </a:defRPr>
            </a:pPr>
            <a:r>
              <a:t>PRICE SPECTRUM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9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Total prices: 500k to 15M+ RMB. Median ~2.5M is sweet spot (60% of transactions). Unit prices span 18k-150k RMB/sqm. Wide range creates distinct market 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67128"/>
            <a:ext cx="10698480" cy="74980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67128"/>
            <a:ext cx="45720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GEOGRAPHIC DIVIDE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511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Xihu (50k/sqm) and Shangcheng (48k/sqm) command 2.5x Linan (18k/sqm). Core districts have mature amenities at premium; periphery offers larger units for same budget.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08376"/>
            <a:ext cx="10698480" cy="74980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08376"/>
            <a:ext cx="45720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AGE 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924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Each year of building age reduces unit price by ~500 RMB/sqm. Homes 20+ years: 35% cheaper but face mortgage term limits. New homes (&lt;5yr) command 25% premium.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9624"/>
            <a:ext cx="10698480" cy="74980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9624"/>
            <a:ext cx="4572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22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METRO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336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Subway-adjacent: 5-15% more. Coverage only 46% citywide. Binjiang (72%) highest, Linan (8%) lowest. Metro expansion = future price catalyst.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90872"/>
            <a:ext cx="10698480" cy="74980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690872"/>
            <a:ext cx="45720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SIZE MATTERS MOST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749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Floor area is #1 price predictor (R=0.78). 90-120sqm optimal range (42% of listings). Under 70sqm: entry-level. Over 150sqm: premium/niche.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32120"/>
            <a:ext cx="10698480" cy="74980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45720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605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CLUSTER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9161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LDA achieves 78% accuracy classifying listings into 5 segments. 'Standard Residential' cluster (31%) represents balanced mainstream market.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280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409EFF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228600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LIVE PLATFORM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Segoe UI"/>
              </a:defRPr>
            </a:pPr>
            <a:r>
              <a:t>13-page web application  |  Dark/Light theme  |  EN/ZH  |  Mobile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DASHBOARD - Landing Page with Live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LISTINGS - Advanced Search &amp;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lis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DISTRICT ANALYSIS - Cross-Region Price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PRICE FACTORS - Correlation &amp;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CHART GALLERY - 10 Interactive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GEOGRAPHIC MAP - Spatial Intelligence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PLATFORM CAPABILITIES - Beyond the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20440" cy="19659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Dual Theme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Dark &amp; light mode, 30+ CSS variables</a:t>
            </a:r>
            <a:br/>
            <a:r>
              <a:t>Persisted preference in localStorage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520440" cy="19659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4904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Bilingual i18n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011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~200 translation keys per language</a:t>
            </a:r>
            <a:br/>
            <a:r>
              <a:t>English &amp; Chinese with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20440" cy="19659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904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Mobile Responsive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11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768px breakpoint, off-screen sidebar</a:t>
            </a:r>
            <a:br/>
            <a:r>
              <a:t>Hamburger menu, touch-optimized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520440" cy="19659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3D Animated Logo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CSS-only data tower with orbit rings</a:t>
            </a:r>
            <a:br/>
            <a:r>
              <a:t>Floating dots and core beam pulse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566160"/>
            <a:ext cx="3520440" cy="19659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6850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Canvas Particle BG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HTML5 Canvas: anchor nodes, connection</a:t>
            </a:r>
            <a:br/>
            <a:r>
              <a:t>mesh, scanning rings, particles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566160"/>
            <a:ext cx="3520440" cy="196596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6850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Fullscreen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Click any chart for modal expansion</a:t>
            </a:r>
            <a:br/>
            <a:r>
              <a:t>All 10 charts interactive with tooltips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QUALITY ASSURANCE - 98 Tests, 100% Pass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56032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325880"/>
            <a:ext cx="2286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Total Test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325880"/>
            <a:ext cx="256032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325880"/>
            <a:ext cx="22860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Pass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25880"/>
            <a:ext cx="256032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325880"/>
            <a:ext cx="228600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09EFF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Unit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25880"/>
            <a:ext cx="2560320" cy="9601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72600" y="1325880"/>
            <a:ext cx="22860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Known Bugs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TEST COVERAGE BY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9EFF"/>
                </a:solidFill>
                <a:latin typeface="Segoe UI"/>
              </a:defRPr>
            </a:pPr>
            <a:r>
              <a:t>Scraper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063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10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06324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Parse accuracy, anti-scraping, sample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5021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Data Cleaner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5021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19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50215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8-step pipeline validation, edge cases,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410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Analysis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9410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18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941064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Correlation, regression, PCA, clustering, LDA/QDA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799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Chart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3799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6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379976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10 chart types, HTML output, registry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188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8188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15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81888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All 14 endpoints, CORS, data loading, filters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57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Frontend SPA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20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25780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Routes, i18n, theme, mobile, ECharts, error handling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967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9E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696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8 tests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69671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Full pipeline, skip flags, frontend-backend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1356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System/Perf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61356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9 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135624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Response times, rendering speed, memory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METRICS -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Segoe UI Light"/>
              </a:defRPr>
            </a:pPr>
            <a:r>
              <a:t>8,000+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Lines of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37160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1508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09EFF"/>
                </a:solidFill>
                <a:latin typeface="Segoe UI Light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Python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C55E"/>
                </a:solidFill>
                <a:latin typeface="Segoe UI Light"/>
              </a:defRPr>
            </a:pPr>
            <a: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Vue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137160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508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Segoe UI Light"/>
              </a:defRPr>
            </a:pPr>
            <a: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Data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63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855F7"/>
                </a:solidFill>
                <a:latin typeface="Segoe UI Light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292608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9" y="3063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Segoe UI Light"/>
              </a:defRPr>
            </a:pPr>
            <a: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599" y="3703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Web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92608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063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Segoe UI Light"/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Chart Types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59" y="292608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3063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09EFF"/>
                </a:solidFill>
                <a:latin typeface="Segoe UI Light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3703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ML Methods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8056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C55E"/>
                </a:solidFill>
                <a:latin typeface="Segoe UI Light"/>
              </a:defRPr>
            </a:pPr>
            <a:r>
              <a:t>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i18n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39" y="448056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9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Segoe UI Light"/>
              </a:defRPr>
            </a:pPr>
            <a:r>
              <a:t>30+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599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CSS Variables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8056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855F7"/>
                </a:solidFill>
                <a:latin typeface="Segoe UI Light"/>
              </a:defRPr>
            </a:pPr>
            <a:r>
              <a:t>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Test Cases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59" y="4480560"/>
            <a:ext cx="2606040" cy="137160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19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Segoe UI Light"/>
              </a:defRPr>
            </a:pPr>
            <a:r>
              <a:t>3,455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Data Records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DATA CLEANING - Pipeline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CLASSIFICATION - Clustering &amp; LDA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2487" y="1261872"/>
            <a:ext cx="8046720" cy="5084064"/>
          </a:xfrm>
          <a:prstGeom prst="round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35024"/>
            <a:ext cx="79004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FUTURE ROADMAP - Continuous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88920" cy="685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73352"/>
            <a:ext cx="1828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Complete 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6 ML analysis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10 interactive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13-page web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605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EN/ZH i18n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Dark/light theme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371600"/>
            <a:ext cx="2788920" cy="68580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3990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6642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673352"/>
            <a:ext cx="18288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Scheduled data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ML price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46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Historical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703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PDF/Excel export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371600"/>
            <a:ext cx="2788920" cy="6858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3990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Q1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6642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673352"/>
            <a:ext cx="18288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User accounts &amp; favorites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Real listing photos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46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PWA mobile 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703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Price drop alerts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1371600"/>
            <a:ext cx="278892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3990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Q2 2027+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16642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Multi-city 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Deep learning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246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Market report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7033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Segoe UI"/>
              </a:defRPr>
            </a:pPr>
            <a:r>
              <a:t>Public API access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BUSINESS VALUE - Who Benefits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43200" cy="39319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09EFF"/>
                </a:solidFill>
                <a:latin typeface="Segoe UI"/>
              </a:defRPr>
            </a:pPr>
            <a:r>
              <a:t>HOME 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Compare districts objectively</a:t>
            </a:r>
            <a:br/>
            <a:r>
              <a:t>Understand price drivers</a:t>
            </a:r>
            <a:br/>
            <a:r>
              <a:t>Get data-backed recommendations</a:t>
            </a:r>
            <a:br/>
            <a:r>
              <a:t>Avoid overpaying by 5-15%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39319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REAL ESTATE ANALYSTS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Access cleaned, verified data</a:t>
            </a:r>
            <a:br/>
            <a:r>
              <a:t>Run advanced ML analysis</a:t>
            </a:r>
            <a:br/>
            <a:r>
              <a:t>Export results for reports</a:t>
            </a:r>
            <a:br/>
            <a:r>
              <a:t>Save 40+ hours of manual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39319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INVESTORS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45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Identify undervalued districts</a:t>
            </a:r>
            <a:br/>
            <a:r>
              <a:t>Track metro expansion impact</a:t>
            </a:r>
            <a:br/>
            <a:r>
              <a:t>Segment market opportunities</a:t>
            </a:r>
            <a:br/>
            <a:r>
              <a:t>Quantify risk by cluster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743200" cy="393192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RESEARCHERS &amp; EDUCATORS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945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Complete pipeline example</a:t>
            </a:r>
            <a:br/>
            <a:r>
              <a:t>Multiple ML techniques</a:t>
            </a:r>
            <a:br/>
            <a:r>
              <a:t>Real-world data science</a:t>
            </a:r>
            <a:br/>
            <a:r>
              <a:t>Open architecture for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MISSION: Democratize housing market intelligence through data-driven transparency.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03120"/>
            <a:ext cx="274320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572000"/>
            <a:ext cx="94183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 Light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00D4FF"/>
                </a:solidFill>
                <a:latin typeface="Segoe UI"/>
              </a:defRPr>
            </a:pPr>
            <a:r>
              <a:t>Hangzhou Housing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Segoe UI"/>
              </a:defRPr>
            </a:pPr>
            <a:r>
              <a:t>3,455 Listings  |  12 Districts  |  6 ML Methods</a:t>
            </a:r>
            <a:br/>
            <a:r>
              <a:t>10 Interactive Charts  |  13-Page Web App  |  EN/ZH  |  Dark/Light</a:t>
            </a:r>
            <a:br/>
            <a:r>
              <a:t>98 Test Cases  |  100% Pass Rate  |  0 Known Bugs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52044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3520440"/>
            <a:ext cx="201168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Segoe UI"/>
              </a:defRPr>
            </a:pPr>
            <a:r>
              <a:t>3,455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Active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52044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520440"/>
            <a:ext cx="201168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C55E"/>
                </a:solidFill>
                <a:latin typeface="Segoe UI"/>
              </a:defRPr>
            </a:pPr>
            <a:r>
              <a:t>R^2 0.72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Model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52044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3520440"/>
            <a:ext cx="2011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98.7%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Data Retention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520440"/>
            <a:ext cx="2286000" cy="868680"/>
          </a:xfrm>
          <a:prstGeom prst="roundRect">
            <a:avLst/>
          </a:prstGeom>
          <a:solidFill>
            <a:srgbClr val="1A1F2E"/>
          </a:solidFill>
          <a:ln w="6350">
            <a:solidFill>
              <a:srgbClr val="3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3520440"/>
            <a:ext cx="201168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5F7"/>
                </a:solidFill>
                <a:latin typeface="Segoe UI"/>
              </a:defRPr>
            </a:pPr>
            <a:r>
              <a:t>98/98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Tests Passing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Segoe UI"/>
              </a:defRPr>
            </a:pPr>
            <a:r>
              <a:t>Shawon  |  Hangzhou Housing Analytics v2.0  |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27 / 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Hangzhou Housing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